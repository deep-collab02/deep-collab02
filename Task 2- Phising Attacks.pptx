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72" r:id="rId3"/>
    <p:sldId id="258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1B066-4598-4B19-9002-B417000B58FA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ED15-532C-4CA9-B7C2-4F4EBDAD9C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288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1B066-4598-4B19-9002-B417000B58FA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ED15-532C-4CA9-B7C2-4F4EBDAD9C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474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1B066-4598-4B19-9002-B417000B58FA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ED15-532C-4CA9-B7C2-4F4EBDAD9C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422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1B066-4598-4B19-9002-B417000B58FA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ED15-532C-4CA9-B7C2-4F4EBDAD9C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255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1B066-4598-4B19-9002-B417000B58FA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ED15-532C-4CA9-B7C2-4F4EBDAD9C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277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1B066-4598-4B19-9002-B417000B58FA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ED15-532C-4CA9-B7C2-4F4EBDAD9C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897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1B066-4598-4B19-9002-B417000B58FA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ED15-532C-4CA9-B7C2-4F4EBDAD9C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269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1B066-4598-4B19-9002-B417000B58FA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ED15-532C-4CA9-B7C2-4F4EBDAD9C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920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1B066-4598-4B19-9002-B417000B58FA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ED15-532C-4CA9-B7C2-4F4EBDAD9C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352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1B066-4598-4B19-9002-B417000B58FA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ED15-532C-4CA9-B7C2-4F4EBDAD9C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55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1B066-4598-4B19-9002-B417000B58FA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ED15-532C-4CA9-B7C2-4F4EBDAD9C0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64374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1B066-4598-4B19-9002-B417000B58FA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ED15-532C-4CA9-B7C2-4F4EBDAD9C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767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1B066-4598-4B19-9002-B417000B58FA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ED15-532C-4CA9-B7C2-4F4EBDAD9C0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44533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1B066-4598-4B19-9002-B417000B58FA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ED15-532C-4CA9-B7C2-4F4EBDAD9C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0887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1B066-4598-4B19-9002-B417000B58FA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ED15-532C-4CA9-B7C2-4F4EBDAD9C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376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1B066-4598-4B19-9002-B417000B58FA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4ED15-532C-4CA9-B7C2-4F4EBDAD9C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19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1B066-4598-4B19-9002-B417000B58FA}" type="datetimeFigureOut">
              <a:rPr lang="en-IN" smtClean="0"/>
              <a:t>01-04-2025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C34ED15-532C-4CA9-B7C2-4F4EBDAD9C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898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66E85-194E-69D1-BB36-DCAAE009EA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1291" y="1583268"/>
            <a:ext cx="7276123" cy="1845732"/>
          </a:xfrm>
        </p:spPr>
        <p:txBody>
          <a:bodyPr/>
          <a:lstStyle/>
          <a:p>
            <a:r>
              <a:rPr lang="en-IN" sz="6000" kern="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PHISHING</a:t>
            </a:r>
            <a:r>
              <a:rPr lang="en-IN" sz="6000" kern="100" spc="26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IN" sz="6000" kern="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ATTACK</a:t>
            </a:r>
            <a:r>
              <a:rPr lang="en-IN" sz="6000" kern="100" spc="26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br>
              <a:rPr lang="en-I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7790-D180-3DDA-275F-8C5D9404E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17109"/>
            <a:ext cx="7766936" cy="1130624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By :-</a:t>
            </a:r>
          </a:p>
          <a:p>
            <a:pPr algn="ctr"/>
            <a:r>
              <a:rPr lang="en-US" sz="2800" dirty="0"/>
              <a:t>DEEP PATEL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21081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D195A0-6BA6-0EB7-997C-8C9221C61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93" y="359508"/>
            <a:ext cx="7557476" cy="560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805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8534C-A1D6-C8F7-95D0-A986D1818F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0076" y="2026929"/>
            <a:ext cx="5553880" cy="1161747"/>
          </a:xfrm>
        </p:spPr>
        <p:txBody>
          <a:bodyPr/>
          <a:lstStyle/>
          <a:p>
            <a:pPr algn="ctr"/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6C9BAB-83B9-1602-2AA5-D393B8937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3878" y="3669324"/>
            <a:ext cx="9386276" cy="2027811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Phishing is a type of social engineering attack often used to steal user data, including login credentials and credit-card numbers</a:t>
            </a: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5561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99EC6-575B-FEA5-C958-B39A7F766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What is Phishing? </a:t>
            </a:r>
            <a:br>
              <a:rPr lang="en-IN" sz="40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en-IN" sz="4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7526C9-FFFF-4BE0-AB25-1D6B091E9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The term Phishing can be defined as an act of attempting to acquire sensitive information by pretending to be a trustworthy entity.</a:t>
            </a:r>
          </a:p>
          <a:p>
            <a:endParaRPr lang="en-I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EA7F36D-9F55-7B92-85F9-12EE2D1BED2F}"/>
              </a:ext>
            </a:extLst>
          </p:cNvPr>
          <p:cNvGrpSpPr/>
          <p:nvPr/>
        </p:nvGrpSpPr>
        <p:grpSpPr>
          <a:xfrm>
            <a:off x="4587631" y="1352061"/>
            <a:ext cx="5050282" cy="4876800"/>
            <a:chOff x="-2539" y="0"/>
            <a:chExt cx="8083297" cy="731594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8F37A04-F403-4D4A-2596-21EB2AA66E81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-2539" y="0"/>
              <a:ext cx="8083297" cy="630936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677DE92-52AF-0CC0-D746-0FB92A6B58FB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619252" y="2506472"/>
              <a:ext cx="6754368" cy="48094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8995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C07AB3-F518-CB58-3C1A-924829677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93" y="1695937"/>
            <a:ext cx="9000040" cy="44156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B6CE27-D8BB-ED7A-420B-EB4E1E974A84}"/>
              </a:ext>
            </a:extLst>
          </p:cNvPr>
          <p:cNvSpPr txBox="1"/>
          <p:nvPr/>
        </p:nvSpPr>
        <p:spPr>
          <a:xfrm>
            <a:off x="650630" y="432750"/>
            <a:ext cx="82120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kern="1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Typical Scenario of Phishing Attacks</a:t>
            </a:r>
            <a:endParaRPr lang="en-IN" sz="4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084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A2D8E385-11C8-F995-78BE-4E810E0EBFCD}"/>
              </a:ext>
            </a:extLst>
          </p:cNvPr>
          <p:cNvSpPr txBox="1"/>
          <p:nvPr/>
        </p:nvSpPr>
        <p:spPr>
          <a:xfrm>
            <a:off x="533400" y="687548"/>
            <a:ext cx="6099906" cy="721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7430"/>
              </a:spcAft>
            </a:pPr>
            <a:r>
              <a:rPr lang="en-IN" sz="4000" kern="100" dirty="0">
                <a:solidFill>
                  <a:schemeClr val="accent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Types of Phishing Attacks 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D795BF0-4556-1911-4E73-9AC48ACDF298}"/>
              </a:ext>
            </a:extLst>
          </p:cNvPr>
          <p:cNvGrpSpPr/>
          <p:nvPr/>
        </p:nvGrpSpPr>
        <p:grpSpPr>
          <a:xfrm>
            <a:off x="3732335" y="2545861"/>
            <a:ext cx="2676281" cy="2588847"/>
            <a:chOff x="0" y="0"/>
            <a:chExt cx="4712209" cy="4713732"/>
          </a:xfrm>
        </p:grpSpPr>
        <p:sp>
          <p:nvSpPr>
            <p:cNvPr id="58" name="Shape 174">
              <a:extLst>
                <a:ext uri="{FF2B5EF4-FFF2-40B4-BE49-F238E27FC236}">
                  <a16:creationId xmlns:a16="http://schemas.microsoft.com/office/drawing/2014/main" id="{F5CE2A2F-9B35-AD63-CD10-D14684DBF4D0}"/>
                </a:ext>
              </a:extLst>
            </p:cNvPr>
            <p:cNvSpPr/>
            <p:nvPr/>
          </p:nvSpPr>
          <p:spPr>
            <a:xfrm>
              <a:off x="170688" y="201168"/>
              <a:ext cx="4370833" cy="4389120"/>
            </a:xfrm>
            <a:custGeom>
              <a:avLst/>
              <a:gdLst/>
              <a:ahLst/>
              <a:cxnLst/>
              <a:rect l="0" t="0" r="0" b="0"/>
              <a:pathLst>
                <a:path w="4370833" h="4389120">
                  <a:moveTo>
                    <a:pt x="2185416" y="0"/>
                  </a:moveTo>
                  <a:cubicBezTo>
                    <a:pt x="3393948" y="5461"/>
                    <a:pt x="4370833" y="986409"/>
                    <a:pt x="4370833" y="2194560"/>
                  </a:cubicBezTo>
                  <a:cubicBezTo>
                    <a:pt x="4370833" y="3402711"/>
                    <a:pt x="3393948" y="4383660"/>
                    <a:pt x="2185416" y="4389120"/>
                  </a:cubicBezTo>
                  <a:cubicBezTo>
                    <a:pt x="976885" y="4383660"/>
                    <a:pt x="0" y="3402711"/>
                    <a:pt x="0" y="2194560"/>
                  </a:cubicBezTo>
                  <a:cubicBezTo>
                    <a:pt x="0" y="986409"/>
                    <a:pt x="976885" y="5461"/>
                    <a:pt x="2185416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DFC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59" name="Shape 175">
              <a:extLst>
                <a:ext uri="{FF2B5EF4-FFF2-40B4-BE49-F238E27FC236}">
                  <a16:creationId xmlns:a16="http://schemas.microsoft.com/office/drawing/2014/main" id="{8167343D-BEC3-E463-3944-E8183BF2494E}"/>
                </a:ext>
              </a:extLst>
            </p:cNvPr>
            <p:cNvSpPr/>
            <p:nvPr/>
          </p:nvSpPr>
          <p:spPr>
            <a:xfrm>
              <a:off x="0" y="2278380"/>
              <a:ext cx="4712209" cy="0"/>
            </a:xfrm>
            <a:custGeom>
              <a:avLst/>
              <a:gdLst/>
              <a:ahLst/>
              <a:cxnLst/>
              <a:rect l="0" t="0" r="0" b="0"/>
              <a:pathLst>
                <a:path w="4712209">
                  <a:moveTo>
                    <a:pt x="0" y="0"/>
                  </a:moveTo>
                  <a:lnTo>
                    <a:pt x="4712209" y="0"/>
                  </a:lnTo>
                </a:path>
              </a:pathLst>
            </a:custGeom>
            <a:ln w="313944" cap="rnd">
              <a:round/>
            </a:ln>
          </p:spPr>
          <p:style>
            <a:lnRef idx="1">
              <a:srgbClr val="0F2A3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0" name="Shape 177">
              <a:extLst>
                <a:ext uri="{FF2B5EF4-FFF2-40B4-BE49-F238E27FC236}">
                  <a16:creationId xmlns:a16="http://schemas.microsoft.com/office/drawing/2014/main" id="{5D282B61-E3C1-3A4A-B46A-9CF10436F41C}"/>
                </a:ext>
              </a:extLst>
            </p:cNvPr>
            <p:cNvSpPr/>
            <p:nvPr/>
          </p:nvSpPr>
          <p:spPr>
            <a:xfrm>
              <a:off x="2356104" y="0"/>
              <a:ext cx="0" cy="4713732"/>
            </a:xfrm>
            <a:custGeom>
              <a:avLst/>
              <a:gdLst/>
              <a:ahLst/>
              <a:cxnLst/>
              <a:rect l="0" t="0" r="0" b="0"/>
              <a:pathLst>
                <a:path h="4713732">
                  <a:moveTo>
                    <a:pt x="0" y="4713732"/>
                  </a:moveTo>
                  <a:lnTo>
                    <a:pt x="0" y="0"/>
                  </a:lnTo>
                </a:path>
              </a:pathLst>
            </a:custGeom>
            <a:ln w="313944" cap="rnd">
              <a:round/>
            </a:ln>
          </p:spPr>
          <p:style>
            <a:lnRef idx="1">
              <a:srgbClr val="0F2A37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1" name="Shape 178">
              <a:extLst>
                <a:ext uri="{FF2B5EF4-FFF2-40B4-BE49-F238E27FC236}">
                  <a16:creationId xmlns:a16="http://schemas.microsoft.com/office/drawing/2014/main" id="{285A66B9-EF57-9E8A-CE87-63142D365A44}"/>
                </a:ext>
              </a:extLst>
            </p:cNvPr>
            <p:cNvSpPr/>
            <p:nvPr/>
          </p:nvSpPr>
          <p:spPr>
            <a:xfrm>
              <a:off x="2356104" y="1083564"/>
              <a:ext cx="339852" cy="341376"/>
            </a:xfrm>
            <a:custGeom>
              <a:avLst/>
              <a:gdLst/>
              <a:ahLst/>
              <a:cxnLst/>
              <a:rect l="0" t="0" r="0" b="0"/>
              <a:pathLst>
                <a:path w="339852" h="341376">
                  <a:moveTo>
                    <a:pt x="169926" y="0"/>
                  </a:moveTo>
                  <a:cubicBezTo>
                    <a:pt x="263906" y="381"/>
                    <a:pt x="339852" y="76708"/>
                    <a:pt x="339852" y="170688"/>
                  </a:cubicBezTo>
                  <a:cubicBezTo>
                    <a:pt x="339852" y="264668"/>
                    <a:pt x="263906" y="340995"/>
                    <a:pt x="169926" y="341376"/>
                  </a:cubicBezTo>
                  <a:cubicBezTo>
                    <a:pt x="75946" y="340995"/>
                    <a:pt x="0" y="264668"/>
                    <a:pt x="0" y="170688"/>
                  </a:cubicBezTo>
                  <a:cubicBezTo>
                    <a:pt x="0" y="76708"/>
                    <a:pt x="75946" y="381"/>
                    <a:pt x="169926" y="0"/>
                  </a:cubicBezTo>
                  <a:close/>
                </a:path>
              </a:pathLst>
            </a:custGeom>
            <a:ln w="0" cap="rnd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F2A3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2" name="Shape 179">
              <a:extLst>
                <a:ext uri="{FF2B5EF4-FFF2-40B4-BE49-F238E27FC236}">
                  <a16:creationId xmlns:a16="http://schemas.microsoft.com/office/drawing/2014/main" id="{23BB5BC5-874E-16AF-14A8-B3C536DF6EE8}"/>
                </a:ext>
              </a:extLst>
            </p:cNvPr>
            <p:cNvSpPr/>
            <p:nvPr/>
          </p:nvSpPr>
          <p:spPr>
            <a:xfrm>
              <a:off x="3247645" y="2474976"/>
              <a:ext cx="339852" cy="341376"/>
            </a:xfrm>
            <a:custGeom>
              <a:avLst/>
              <a:gdLst/>
              <a:ahLst/>
              <a:cxnLst/>
              <a:rect l="0" t="0" r="0" b="0"/>
              <a:pathLst>
                <a:path w="339852" h="341376">
                  <a:moveTo>
                    <a:pt x="169926" y="0"/>
                  </a:moveTo>
                  <a:cubicBezTo>
                    <a:pt x="263906" y="381"/>
                    <a:pt x="339852" y="76708"/>
                    <a:pt x="339852" y="170688"/>
                  </a:cubicBezTo>
                  <a:cubicBezTo>
                    <a:pt x="339852" y="264668"/>
                    <a:pt x="263906" y="340995"/>
                    <a:pt x="169926" y="341376"/>
                  </a:cubicBezTo>
                  <a:cubicBezTo>
                    <a:pt x="75946" y="340995"/>
                    <a:pt x="0" y="264668"/>
                    <a:pt x="0" y="170688"/>
                  </a:cubicBezTo>
                  <a:cubicBezTo>
                    <a:pt x="0" y="76708"/>
                    <a:pt x="75946" y="381"/>
                    <a:pt x="169926" y="0"/>
                  </a:cubicBezTo>
                  <a:close/>
                </a:path>
              </a:pathLst>
            </a:custGeom>
            <a:ln w="0" cap="rnd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F2A3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3" name="Shape 180">
              <a:extLst>
                <a:ext uri="{FF2B5EF4-FFF2-40B4-BE49-F238E27FC236}">
                  <a16:creationId xmlns:a16="http://schemas.microsoft.com/office/drawing/2014/main" id="{DC548F17-3716-5951-5F2C-CE5514C5B999}"/>
                </a:ext>
              </a:extLst>
            </p:cNvPr>
            <p:cNvSpPr/>
            <p:nvPr/>
          </p:nvSpPr>
          <p:spPr>
            <a:xfrm>
              <a:off x="1056132" y="2054352"/>
              <a:ext cx="339852" cy="341376"/>
            </a:xfrm>
            <a:custGeom>
              <a:avLst/>
              <a:gdLst/>
              <a:ahLst/>
              <a:cxnLst/>
              <a:rect l="0" t="0" r="0" b="0"/>
              <a:pathLst>
                <a:path w="339852" h="341376">
                  <a:moveTo>
                    <a:pt x="169926" y="0"/>
                  </a:moveTo>
                  <a:cubicBezTo>
                    <a:pt x="263906" y="381"/>
                    <a:pt x="339852" y="76708"/>
                    <a:pt x="339852" y="170688"/>
                  </a:cubicBezTo>
                  <a:cubicBezTo>
                    <a:pt x="339852" y="264668"/>
                    <a:pt x="263906" y="340995"/>
                    <a:pt x="169926" y="341376"/>
                  </a:cubicBezTo>
                  <a:cubicBezTo>
                    <a:pt x="75946" y="340995"/>
                    <a:pt x="0" y="264668"/>
                    <a:pt x="0" y="170688"/>
                  </a:cubicBezTo>
                  <a:cubicBezTo>
                    <a:pt x="0" y="76708"/>
                    <a:pt x="75946" y="381"/>
                    <a:pt x="169926" y="0"/>
                  </a:cubicBezTo>
                  <a:close/>
                </a:path>
              </a:pathLst>
            </a:custGeom>
            <a:ln w="0" cap="rnd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F2A3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4" name="Shape 181">
              <a:extLst>
                <a:ext uri="{FF2B5EF4-FFF2-40B4-BE49-F238E27FC236}">
                  <a16:creationId xmlns:a16="http://schemas.microsoft.com/office/drawing/2014/main" id="{BB7BF7AC-A388-3A5D-A9B4-AE395A6DCA22}"/>
                </a:ext>
              </a:extLst>
            </p:cNvPr>
            <p:cNvSpPr/>
            <p:nvPr/>
          </p:nvSpPr>
          <p:spPr>
            <a:xfrm>
              <a:off x="2016252" y="3227832"/>
              <a:ext cx="339852" cy="341376"/>
            </a:xfrm>
            <a:custGeom>
              <a:avLst/>
              <a:gdLst/>
              <a:ahLst/>
              <a:cxnLst/>
              <a:rect l="0" t="0" r="0" b="0"/>
              <a:pathLst>
                <a:path w="339852" h="341376">
                  <a:moveTo>
                    <a:pt x="169926" y="0"/>
                  </a:moveTo>
                  <a:cubicBezTo>
                    <a:pt x="263906" y="381"/>
                    <a:pt x="339852" y="76708"/>
                    <a:pt x="339852" y="170688"/>
                  </a:cubicBezTo>
                  <a:cubicBezTo>
                    <a:pt x="339852" y="264668"/>
                    <a:pt x="263906" y="340995"/>
                    <a:pt x="169926" y="341376"/>
                  </a:cubicBezTo>
                  <a:cubicBezTo>
                    <a:pt x="75946" y="340995"/>
                    <a:pt x="0" y="264668"/>
                    <a:pt x="0" y="170688"/>
                  </a:cubicBezTo>
                  <a:cubicBezTo>
                    <a:pt x="0" y="76708"/>
                    <a:pt x="75946" y="381"/>
                    <a:pt x="169926" y="0"/>
                  </a:cubicBezTo>
                  <a:close/>
                </a:path>
              </a:pathLst>
            </a:custGeom>
            <a:ln w="0" cap="rnd">
              <a:round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F2A3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B130D4F6-F078-2166-FF3B-1B3B5D0EA596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999744"/>
              <a:ext cx="938784" cy="737616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DB4B9F7B-1EEA-DF96-F80A-7294AA77C82C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2848356" y="3037332"/>
              <a:ext cx="850392" cy="850392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781E34DE-5ADF-220C-2AE4-F76EE458DFED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893064" y="2738628"/>
              <a:ext cx="960120" cy="1149096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1BD03FB9-7B2B-3657-5783-4F33477CE91B}"/>
                </a:ext>
              </a:extLst>
            </p:cNvPr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2709673" y="950976"/>
              <a:ext cx="1126236" cy="835152"/>
            </a:xfrm>
            <a:prstGeom prst="rect">
              <a:avLst/>
            </a:prstGeom>
          </p:spPr>
        </p:pic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6CC71FC2-3005-06FB-E6C7-2438B8999695}"/>
              </a:ext>
            </a:extLst>
          </p:cNvPr>
          <p:cNvSpPr txBox="1"/>
          <p:nvPr/>
        </p:nvSpPr>
        <p:spPr>
          <a:xfrm>
            <a:off x="905592" y="2625567"/>
            <a:ext cx="27306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EMAIL PHISHING CLONE </a:t>
            </a:r>
            <a:endParaRPr lang="en-IN" sz="20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FB5314D-16B6-69B7-3E26-3608ED854A78}"/>
              </a:ext>
            </a:extLst>
          </p:cNvPr>
          <p:cNvSpPr txBox="1"/>
          <p:nvPr/>
        </p:nvSpPr>
        <p:spPr>
          <a:xfrm>
            <a:off x="6512482" y="2656345"/>
            <a:ext cx="15529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PHISHING</a:t>
            </a:r>
            <a:endParaRPr lang="en-IN" sz="2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B01F5DB-1A5B-58A1-A073-1B04F2268542}"/>
              </a:ext>
            </a:extLst>
          </p:cNvPr>
          <p:cNvSpPr txBox="1"/>
          <p:nvPr/>
        </p:nvSpPr>
        <p:spPr>
          <a:xfrm>
            <a:off x="959550" y="4365502"/>
            <a:ext cx="26762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SPEAR PHISHING VOICE </a:t>
            </a:r>
            <a:endParaRPr lang="en-IN" sz="20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9557A80-7FE4-2DA3-F0A4-3C3952BCBC64}"/>
              </a:ext>
            </a:extLst>
          </p:cNvPr>
          <p:cNvSpPr txBox="1"/>
          <p:nvPr/>
        </p:nvSpPr>
        <p:spPr>
          <a:xfrm>
            <a:off x="6633306" y="4412375"/>
            <a:ext cx="23332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PHISHING</a:t>
            </a:r>
            <a:r>
              <a:rPr lang="en-IN" sz="1800" dirty="0"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9299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59134-E0F0-C857-6F91-8B3CB4A46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84738"/>
            <a:ext cx="3854528" cy="1656862"/>
          </a:xfrm>
        </p:spPr>
        <p:txBody>
          <a:bodyPr>
            <a:normAutofit/>
          </a:bodyPr>
          <a:lstStyle/>
          <a:p>
            <a:r>
              <a:rPr lang="en-IN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Email Phishing &amp; it's Example </a:t>
            </a:r>
            <a:br>
              <a:rPr lang="en-IN" sz="1800" b="1" kern="100" dirty="0">
                <a:solidFill>
                  <a:srgbClr val="17EAC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F4329-87BE-B863-133B-DF7B581E2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sz="24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The most widely known form of phishing, this attack is an attempt to steal sensitive information via an email that appears to be from a legitimate organization.</a:t>
            </a:r>
          </a:p>
          <a:p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B535ED6-585B-0CDF-D6B1-8686434F4A7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0913" y="1708725"/>
            <a:ext cx="4852010" cy="358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28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B8EDE-705F-6BD5-3D7F-760B1DD76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Spear Phishing &amp; it's Example</a:t>
            </a:r>
            <a:endParaRPr lang="en-IN" sz="4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550E6E-697C-6360-E9B3-47B045E16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2946400"/>
            <a:ext cx="3854528" cy="2415118"/>
          </a:xfrm>
        </p:spPr>
        <p:txBody>
          <a:bodyPr/>
          <a:lstStyle/>
          <a:p>
            <a:r>
              <a:rPr lang="en-IN" sz="2400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These email messages are sent to specific people within an organization, usually high-privilege </a:t>
            </a:r>
          </a:p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E38B05-C677-193E-CE6C-D79FEEBFE40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0913" y="1708098"/>
            <a:ext cx="4513262" cy="3140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221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4D7FE-2ABB-329D-8BD7-890CF5E68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320800"/>
            <a:ext cx="3854528" cy="1456270"/>
          </a:xfrm>
        </p:spPr>
        <p:txBody>
          <a:bodyPr>
            <a:normAutofit fontScale="90000"/>
          </a:bodyPr>
          <a:lstStyle/>
          <a:p>
            <a:r>
              <a:rPr lang="en-IN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Clone Phishing &amp; it's Example </a:t>
            </a:r>
            <a:br>
              <a:rPr lang="en-IN" sz="1800" b="1" kern="100" dirty="0">
                <a:solidFill>
                  <a:srgbClr val="17EAC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77BC8E-A9B6-1751-947B-AFBB877EA0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2946400"/>
            <a:ext cx="3854528" cy="2415118"/>
          </a:xfrm>
        </p:spPr>
        <p:txBody>
          <a:bodyPr/>
          <a:lstStyle/>
          <a:p>
            <a:r>
              <a:rPr lang="en-IN" sz="2000" kern="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IN" sz="20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 this type of phishing, the attacker clones a genuine or legitimate email that you might have received from an authentic sender but sent from a spoofed email id </a:t>
            </a:r>
          </a:p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30EF52-14AD-05F2-111C-039DC4C4B9B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0913" y="1709165"/>
            <a:ext cx="4513262" cy="313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479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430B3-8441-F4ED-CE22-CEA771214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320800"/>
            <a:ext cx="3854528" cy="1454148"/>
          </a:xfrm>
        </p:spPr>
        <p:txBody>
          <a:bodyPr>
            <a:normAutofit fontScale="90000"/>
          </a:bodyPr>
          <a:lstStyle/>
          <a:p>
            <a:r>
              <a:rPr lang="en-IN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Voice Phishing &amp; it's Example </a:t>
            </a:r>
            <a:br>
              <a:rPr lang="en-IN" sz="1800" b="1" kern="100" dirty="0">
                <a:solidFill>
                  <a:srgbClr val="17EAC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en-IN" dirty="0"/>
          </a:p>
        </p:txBody>
      </p:sp>
      <p:pic>
        <p:nvPicPr>
          <p:cNvPr id="33" name="Content Placeholder 32">
            <a:extLst>
              <a:ext uri="{FF2B5EF4-FFF2-40B4-BE49-F238E27FC236}">
                <a16:creationId xmlns:a16="http://schemas.microsoft.com/office/drawing/2014/main" id="{090C8294-B5EC-D9F7-B5BB-0FB5648B9F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6046" y="1001883"/>
            <a:ext cx="2381032" cy="471491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FE1C9-578E-BC87-7DB1-2B8DBAFFB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sz="2400" kern="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V</a:t>
            </a:r>
            <a:r>
              <a:rPr lang="en-IN" sz="24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oice phishing is the use of fraudulent phone calls to trick people into giving money or revealing personal information.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5373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9CE1B-8BA9-AC61-402A-0C368C451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616" y="582245"/>
            <a:ext cx="4306276" cy="1141046"/>
          </a:xfrm>
        </p:spPr>
        <p:txBody>
          <a:bodyPr>
            <a:noAutofit/>
          </a:bodyPr>
          <a:lstStyle/>
          <a:p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PHISHING ATTACK STATISTICS IN INDIA </a:t>
            </a:r>
            <a:endParaRPr lang="en-IN" sz="4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0AED40-8B84-DB50-D421-49ABA290B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0780" y="1977292"/>
            <a:ext cx="3854528" cy="4298463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sz="3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Here is a bar graph representing phishing attack statistics in India for 2023:-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Phishing Attacks</a:t>
            </a:r>
            <a:r>
              <a:rPr lang="en-US" sz="3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79 million incidents.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Global Share</a:t>
            </a:r>
            <a:r>
              <a:rPr lang="en-US" sz="3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3.9% of phishing attacks worldwide.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Sector Impact</a:t>
            </a:r>
            <a:r>
              <a:rPr lang="en-US" sz="3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33% of attacks targeted this industry.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Finance &amp; Insurance Growth</a:t>
            </a:r>
            <a:r>
              <a:rPr lang="en-US" sz="3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393% increase in phishing attempts.</a:t>
            </a: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visualization highlights the growing threat of phishing attacks in India and the need for stronger cybersecurity measures.</a:t>
            </a:r>
          </a:p>
          <a:p>
            <a:endParaRPr lang="en-IN" sz="18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IN" dirty="0"/>
          </a:p>
        </p:txBody>
      </p:sp>
      <p:pic>
        <p:nvPicPr>
          <p:cNvPr id="8194" name="Picture 2" descr="Output image">
            <a:extLst>
              <a:ext uri="{FF2B5EF4-FFF2-40B4-BE49-F238E27FC236}">
                <a16:creationId xmlns:a16="http://schemas.microsoft.com/office/drawing/2014/main" id="{136889B4-7C96-DA72-F028-B49D72ABEB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913" y="1977291"/>
            <a:ext cx="4878582" cy="3923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456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33AF3-26A2-80F0-26AF-CABF291AA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06585"/>
          </a:xfrm>
        </p:spPr>
        <p:txBody>
          <a:bodyPr>
            <a:normAutofit/>
          </a:bodyPr>
          <a:lstStyle/>
          <a:p>
            <a:r>
              <a:rPr lang="en-IN" sz="4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PREVENTIONS FROM PHISHING ATTACK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3BD62-BA5C-0B14-87C3-F09922A01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20076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Think Before You Click: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Always verify links before clicking.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Never Share Sensitive Information via Email: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Banks and legitimate organizations never ask for sensitive information via email.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Double-Check Unexpected Messages: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If an email seems suspicious, call the sender directly.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Stay Informed with Cybersecurity Awareness Training: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Regular training helps prevent attacks.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5481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EA7A9-2828-13FF-60CC-49CAF68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795" y="711199"/>
            <a:ext cx="6442482" cy="672123"/>
          </a:xfrm>
        </p:spPr>
        <p:txBody>
          <a:bodyPr>
            <a:normAutofit fontScale="90000"/>
          </a:bodyPr>
          <a:lstStyle/>
          <a:p>
            <a:r>
              <a:rPr lang="en-IN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ANTI-PHISHING SOFTWARE </a:t>
            </a:r>
            <a:br>
              <a:rPr lang="en-I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D79E7-742B-3A6C-56FE-A2858B13A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05355"/>
            <a:ext cx="8596668" cy="4236008"/>
          </a:xfrm>
        </p:spPr>
        <p:txBody>
          <a:bodyPr/>
          <a:lstStyle/>
          <a:p>
            <a:pPr algn="l">
              <a:buFont typeface="+mj-lt"/>
              <a:buAutoNum type="arabicPeriod"/>
            </a:pPr>
            <a:r>
              <a:rPr lang="en-US" sz="2000" b="1" i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PhishMe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Offers training and simulation tools to help organizations educate employees about phishing threats.</a:t>
            </a:r>
          </a:p>
          <a:p>
            <a:pPr algn="l">
              <a:buFont typeface="+mj-lt"/>
              <a:buAutoNum type="arabicPeriod"/>
            </a:pPr>
            <a:r>
              <a:rPr lang="en-US" sz="2000" b="1" i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</a:t>
            </a:r>
            <a:r>
              <a:rPr lang="en-US" sz="2000" b="1" i="0" dirty="0" err="1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fense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Provides a comprehensive phishing detection and response platform, including user training and incident reporting.</a:t>
            </a:r>
          </a:p>
          <a:p>
            <a:pPr algn="l">
              <a:buFont typeface="+mj-lt"/>
              <a:buAutoNum type="arabicPeriod"/>
            </a:pPr>
            <a:r>
              <a:rPr lang="en-US" sz="2000" b="1" i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Barracuda Networks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Offers email security solutions that include anti-phishing features, spam filtering, and advanced threat protection.</a:t>
            </a:r>
          </a:p>
          <a:p>
            <a:pPr algn="l">
              <a:buFont typeface="+mj-lt"/>
              <a:buAutoNum type="arabicPeriod"/>
            </a:pPr>
            <a:r>
              <a:rPr lang="en-US" sz="2000" b="1" i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Proofpoint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Provides email security solutions that protect against phishing, malware, and other email-borne threats.</a:t>
            </a:r>
          </a:p>
          <a:p>
            <a:pPr algn="l">
              <a:buFont typeface="+mj-lt"/>
              <a:buAutoNum type="arabicPeriod"/>
            </a:pPr>
            <a:r>
              <a:rPr lang="en-US" sz="2000" b="1" i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Norton Anti-Virus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Includes anti-phishing features as part of its broader cybersecurity suite, protecting users from online threats.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4859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28876-8220-21A6-1C60-19ECE9421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 &amp; Resources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CB153-6769-4298-A399-CFAF02BE3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8794912" cy="331799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 of key points: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Recap phishing types, recognition, and protection.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Cybersecurity resources: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Websites like CISA, FTC, and Anti-Phishing Working Group.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Contact information for reporting phishing attempts: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 helpdesk, cybersecurity team, and government reporting portals.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764866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95</TotalTime>
  <Words>479</Words>
  <Application>Microsoft Office PowerPoint</Application>
  <PresentationFormat>Widescreen</PresentationFormat>
  <Paragraphs>43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Trebuchet MS</vt:lpstr>
      <vt:lpstr>Wingdings 3</vt:lpstr>
      <vt:lpstr>Facet</vt:lpstr>
      <vt:lpstr>PHISHING ATTACK  </vt:lpstr>
      <vt:lpstr>PowerPoint Presentation</vt:lpstr>
      <vt:lpstr>Introduction</vt:lpstr>
      <vt:lpstr>What is Phishing?  </vt:lpstr>
      <vt:lpstr>PowerPoint Presentation</vt:lpstr>
      <vt:lpstr>PowerPoint Presentation</vt:lpstr>
      <vt:lpstr>Email Phishing &amp; it's Example  </vt:lpstr>
      <vt:lpstr>Spear Phishing &amp; it's Example</vt:lpstr>
      <vt:lpstr>Clone Phishing &amp; it's Example  </vt:lpstr>
      <vt:lpstr>Voice Phishing &amp; it's Example  </vt:lpstr>
      <vt:lpstr>PHISHING ATTACK STATISTICS IN INDIA </vt:lpstr>
      <vt:lpstr>PREVENTIONS FROM PHISHING ATTACK</vt:lpstr>
      <vt:lpstr>ANTI-PHISHING SOFTWARE  </vt:lpstr>
      <vt:lpstr>Conclusion &amp; Resources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 patel</dc:creator>
  <cp:lastModifiedBy>deep patel</cp:lastModifiedBy>
  <cp:revision>1</cp:revision>
  <dcterms:created xsi:type="dcterms:W3CDTF">2025-04-01T10:16:25Z</dcterms:created>
  <dcterms:modified xsi:type="dcterms:W3CDTF">2025-04-01T11:52:18Z</dcterms:modified>
</cp:coreProperties>
</file>